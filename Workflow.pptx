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</p:sldIdLst>
  <p:sldSz cy="10058400" cx="73152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3168">
          <p15:clr>
            <a:srgbClr val="A4A3A4"/>
          </p15:clr>
        </p15:guide>
        <p15:guide id="2" pos="2304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168" orient="horz"/>
        <p:guide pos="2304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182413" y="685800"/>
            <a:ext cx="24939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2182413" y="685800"/>
            <a:ext cx="24939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42e2d2dacf_0_6:notes"/>
          <p:cNvSpPr/>
          <p:nvPr>
            <p:ph idx="2" type="sldImg"/>
          </p:nvPr>
        </p:nvSpPr>
        <p:spPr>
          <a:xfrm>
            <a:off x="2182413" y="685800"/>
            <a:ext cx="24939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42e2d2dacf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42e2d2dacf_0_1:notes"/>
          <p:cNvSpPr/>
          <p:nvPr>
            <p:ph idx="2" type="sldImg"/>
          </p:nvPr>
        </p:nvSpPr>
        <p:spPr>
          <a:xfrm>
            <a:off x="2182413" y="685800"/>
            <a:ext cx="24939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42e2d2dacf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249367" y="1456058"/>
            <a:ext cx="6816600" cy="4014000"/>
          </a:xfrm>
          <a:prstGeom prst="rect">
            <a:avLst/>
          </a:prstGeom>
        </p:spPr>
        <p:txBody>
          <a:bodyPr anchorCtr="0" anchor="b" bIns="91425" lIns="91425" spcFirstLastPara="1" rIns="91425" wrap="square" tIns="91425"/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249360" y="5542289"/>
            <a:ext cx="6816600" cy="15501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6777966" y="9119180"/>
            <a:ext cx="4389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249360" y="4206107"/>
            <a:ext cx="6816600" cy="164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/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6777966" y="9119180"/>
            <a:ext cx="4389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249360" y="870271"/>
            <a:ext cx="6816600" cy="11199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249360" y="2253729"/>
            <a:ext cx="6816600" cy="66810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6777966" y="9119180"/>
            <a:ext cx="4389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49360" y="870271"/>
            <a:ext cx="6816600" cy="11199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49360" y="2253729"/>
            <a:ext cx="3199800" cy="66810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3865920" y="2253729"/>
            <a:ext cx="3199800" cy="66810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6777966" y="9119180"/>
            <a:ext cx="4389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249360" y="870271"/>
            <a:ext cx="6816600" cy="11199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6777966" y="9119180"/>
            <a:ext cx="4389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249360" y="1086507"/>
            <a:ext cx="2246400" cy="1477800"/>
          </a:xfrm>
          <a:prstGeom prst="rect">
            <a:avLst/>
          </a:prstGeom>
        </p:spPr>
        <p:txBody>
          <a:bodyPr anchorCtr="0" anchor="b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249360" y="2717440"/>
            <a:ext cx="2246400" cy="62175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6777966" y="9119180"/>
            <a:ext cx="4389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392200" y="880293"/>
            <a:ext cx="5094300" cy="799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6777966" y="9119180"/>
            <a:ext cx="4389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3657600" y="-244"/>
            <a:ext cx="3657600" cy="10058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12400" y="2411542"/>
            <a:ext cx="3236100" cy="2898600"/>
          </a:xfrm>
          <a:prstGeom prst="rect">
            <a:avLst/>
          </a:prstGeom>
        </p:spPr>
        <p:txBody>
          <a:bodyPr anchorCtr="0" anchor="b" bIns="91425" lIns="91425" spcFirstLastPara="1" rIns="91425" wrap="square" tIns="91425"/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12400" y="5481569"/>
            <a:ext cx="3236100" cy="24153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3951600" y="1415969"/>
            <a:ext cx="3069600" cy="722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/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6777966" y="9119180"/>
            <a:ext cx="4389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249360" y="8273124"/>
            <a:ext cx="4799100" cy="118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/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6777966" y="9119180"/>
            <a:ext cx="4389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249360" y="2163089"/>
            <a:ext cx="6816600" cy="3839700"/>
          </a:xfrm>
          <a:prstGeom prst="rect">
            <a:avLst/>
          </a:prstGeom>
        </p:spPr>
        <p:txBody>
          <a:bodyPr anchorCtr="0" anchor="b" bIns="91425" lIns="91425" spcFirstLastPara="1" rIns="91425" wrap="square" tIns="91425"/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249360" y="6164351"/>
            <a:ext cx="6816600" cy="25437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6777966" y="9119180"/>
            <a:ext cx="4389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6777966" y="9119180"/>
            <a:ext cx="4389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49360" y="870271"/>
            <a:ext cx="6816600" cy="11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49360" y="2253729"/>
            <a:ext cx="6816600" cy="66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6777966" y="9119180"/>
            <a:ext cx="438900" cy="76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790850" y="207425"/>
            <a:ext cx="5733600" cy="9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Understanding the Genes in SC/SI Individuals of </a:t>
            </a:r>
            <a:r>
              <a:rPr i="1" lang="en" sz="2400"/>
              <a:t>Physalis acutifolia</a:t>
            </a:r>
            <a:endParaRPr i="1" sz="2400"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289550" y="1469400"/>
            <a:ext cx="2285400" cy="7515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</a:rPr>
              <a:t>Transcriptome</a:t>
            </a:r>
            <a:r>
              <a:rPr lang="en" sz="1400">
                <a:solidFill>
                  <a:srgbClr val="000000"/>
                </a:solidFill>
              </a:rPr>
              <a:t> of </a:t>
            </a:r>
            <a:endParaRPr sz="1400">
              <a:solidFill>
                <a:srgbClr val="00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400">
                <a:solidFill>
                  <a:srgbClr val="000000"/>
                </a:solidFill>
              </a:rPr>
              <a:t>Physalis acutifolia</a:t>
            </a:r>
            <a:endParaRPr i="1" sz="1400">
              <a:solidFill>
                <a:srgbClr val="000000"/>
              </a:solidFill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289700" y="2297100"/>
            <a:ext cx="2285400" cy="12366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Purpose: To have a published transcriptome (which currently doesn’t exist), to be able to untangle </a:t>
            </a:r>
            <a:r>
              <a:rPr lang="en" sz="1200"/>
              <a:t>pleiotropic</a:t>
            </a:r>
            <a:r>
              <a:rPr lang="en" sz="1200"/>
              <a:t> genes (Mulato-Brito, 2007), and sort out housekeeping genes.</a:t>
            </a:r>
            <a:endParaRPr sz="1200"/>
          </a:p>
        </p:txBody>
      </p:sp>
      <p:sp>
        <p:nvSpPr>
          <p:cNvPr id="57" name="Google Shape;57;p13"/>
          <p:cNvSpPr txBox="1"/>
          <p:nvPr/>
        </p:nvSpPr>
        <p:spPr>
          <a:xfrm>
            <a:off x="289700" y="3653700"/>
            <a:ext cx="2285400" cy="46740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Approach: 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" sz="1200"/>
              <a:t>RNA extraction of SC individual of leaf, fruit, flower, root, and bud. 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" sz="1200"/>
              <a:t>Sequence this in the Nanopore with a coverage of 80x. </a:t>
            </a:r>
            <a:endParaRPr sz="12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AutoNum type="alphaLcPeriod"/>
            </a:pPr>
            <a:r>
              <a:rPr lang="en" sz="1200"/>
              <a:t>This would require 1 flow cell for all 6 samples.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Genome size ~3.5 Gb. Estimate transcriptome to be 1% of that (0.035 GB x 80 = 2.8 Gb) for one tissue. 6 different tissues at ~16.8 Gb. Nanopore ranges from 10-20 Gb.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" sz="1200"/>
              <a:t>De Novo Assembly </a:t>
            </a:r>
            <a:endParaRPr sz="12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AutoNum type="alphaLcPeriod"/>
            </a:pPr>
            <a:r>
              <a:rPr lang="en" sz="1200"/>
              <a:t>Steps below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" sz="1200"/>
              <a:t>Annotation</a:t>
            </a:r>
            <a:r>
              <a:rPr lang="en" sz="1200"/>
              <a:t> of </a:t>
            </a:r>
            <a:r>
              <a:rPr lang="en" sz="1200"/>
              <a:t>transcriptome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" sz="1200"/>
              <a:t>Potentially </a:t>
            </a:r>
            <a:r>
              <a:rPr lang="en" sz="1200"/>
              <a:t>publish</a:t>
            </a:r>
            <a:r>
              <a:rPr lang="en" sz="1200"/>
              <a:t> at: ??? </a:t>
            </a:r>
            <a:endParaRPr sz="1200"/>
          </a:p>
        </p:txBody>
      </p:sp>
      <p:sp>
        <p:nvSpPr>
          <p:cNvPr id="58" name="Google Shape;58;p13"/>
          <p:cNvSpPr txBox="1"/>
          <p:nvPr/>
        </p:nvSpPr>
        <p:spPr>
          <a:xfrm>
            <a:off x="3006175" y="1473025"/>
            <a:ext cx="3934500" cy="5955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Differentially</a:t>
            </a:r>
            <a:r>
              <a:rPr lang="en"/>
              <a:t> Expressed Genes (DEG) between SC/SI </a:t>
            </a:r>
            <a:r>
              <a:rPr i="1" lang="en"/>
              <a:t>Physalis acutifolia</a:t>
            </a:r>
            <a:endParaRPr i="1"/>
          </a:p>
        </p:txBody>
      </p:sp>
      <p:cxnSp>
        <p:nvCxnSpPr>
          <p:cNvPr id="59" name="Google Shape;59;p13"/>
          <p:cNvCxnSpPr/>
          <p:nvPr/>
        </p:nvCxnSpPr>
        <p:spPr>
          <a:xfrm>
            <a:off x="2804525" y="1271375"/>
            <a:ext cx="16200" cy="85134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0" name="Google Shape;60;p13"/>
          <p:cNvSpPr txBox="1"/>
          <p:nvPr/>
        </p:nvSpPr>
        <p:spPr>
          <a:xfrm>
            <a:off x="3001900" y="2220900"/>
            <a:ext cx="3934500" cy="5319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Purpose: To understand the genes that regulate SI within this species.  </a:t>
            </a:r>
            <a:endParaRPr sz="1200"/>
          </a:p>
        </p:txBody>
      </p:sp>
      <p:sp>
        <p:nvSpPr>
          <p:cNvPr id="61" name="Google Shape;61;p13"/>
          <p:cNvSpPr txBox="1"/>
          <p:nvPr/>
        </p:nvSpPr>
        <p:spPr>
          <a:xfrm>
            <a:off x="3067050" y="2733675"/>
            <a:ext cx="3869400" cy="615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62" name="Google Shape;62;p13"/>
          <p:cNvSpPr/>
          <p:nvPr/>
        </p:nvSpPr>
        <p:spPr>
          <a:xfrm>
            <a:off x="3001900" y="2854775"/>
            <a:ext cx="3934500" cy="50178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Approach: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en" sz="1200">
                <a:solidFill>
                  <a:schemeClr val="dk1"/>
                </a:solidFill>
              </a:rPr>
              <a:t>RNA extraction of unpollinated styles. </a:t>
            </a:r>
            <a:endParaRPr sz="1200">
              <a:solidFill>
                <a:schemeClr val="dk1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lphaLcPeriod"/>
            </a:pPr>
            <a:r>
              <a:rPr lang="en" sz="1200">
                <a:solidFill>
                  <a:schemeClr val="dk1"/>
                </a:solidFill>
              </a:rPr>
              <a:t>Practice with 2 samples. 1 SC and I SI of one individual with 5 styles pooled.</a:t>
            </a:r>
            <a:endParaRPr sz="1200">
              <a:solidFill>
                <a:schemeClr val="dk1"/>
              </a:solidFill>
            </a:endParaRPr>
          </a:p>
          <a:p>
            <a:pPr indent="-3048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romanLcPeriod"/>
            </a:pPr>
            <a:r>
              <a:rPr lang="en" sz="1200">
                <a:solidFill>
                  <a:schemeClr val="dk1"/>
                </a:solidFill>
              </a:rPr>
              <a:t>Optimize to obtain good yield.</a:t>
            </a:r>
            <a:endParaRPr sz="1200">
              <a:solidFill>
                <a:schemeClr val="dk1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lphaLcPeriod"/>
            </a:pPr>
            <a:r>
              <a:rPr lang="en" sz="1200">
                <a:solidFill>
                  <a:schemeClr val="dk1"/>
                </a:solidFill>
              </a:rPr>
              <a:t>Do 2 samples with pollinated SC/SI and compare with unpollinated.</a:t>
            </a:r>
            <a:endParaRPr sz="1200">
              <a:solidFill>
                <a:schemeClr val="dk1"/>
              </a:solidFill>
            </a:endParaRPr>
          </a:p>
          <a:p>
            <a:pPr indent="-3048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romanLcPeriod"/>
            </a:pPr>
            <a:r>
              <a:rPr lang="en" sz="1200">
                <a:solidFill>
                  <a:schemeClr val="dk1"/>
                </a:solidFill>
              </a:rPr>
              <a:t>After talking with Pat she said there wasn't much difference with pollinated and unpollinated styles.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**Reevaluate** methods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 2. Run Scotty - Power Analysis for RNA Seq Experiments with the samples to reevaluated number of samples needed. </a:t>
            </a:r>
            <a:endParaRPr sz="1200">
              <a:solidFill>
                <a:schemeClr val="dk1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lphaLcPeriod"/>
            </a:pPr>
            <a:r>
              <a:rPr lang="en" sz="1200">
                <a:solidFill>
                  <a:schemeClr val="dk1"/>
                </a:solidFill>
              </a:rPr>
              <a:t>Continue with 3 populations (1 SC and 2 SI). 3 individual plants with 5 styles pooled together. 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*Evaluate data and revise methods if needed. </a:t>
            </a:r>
            <a:endParaRPr sz="1200">
              <a:solidFill>
                <a:schemeClr val="dk1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lphaLcPeriod"/>
            </a:pPr>
            <a:r>
              <a:rPr lang="en" sz="1200">
                <a:solidFill>
                  <a:schemeClr val="dk1"/>
                </a:solidFill>
              </a:rPr>
              <a:t>Finish with the next 7 populations -- 3 individual plants with 5 styles pooled together.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Total Extractions: 32 extractions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3. De Novo Assembly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4.  Determine DEG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5. qPCR on DEG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5. Potentially publish results at: AJB, Genetics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4"/>
          <p:cNvSpPr txBox="1"/>
          <p:nvPr>
            <p:ph idx="1" type="subTitle"/>
          </p:nvPr>
        </p:nvSpPr>
        <p:spPr>
          <a:xfrm>
            <a:off x="249350" y="1347748"/>
            <a:ext cx="3201900" cy="767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sz="1800"/>
              <a:t>Extract RNA: Qiagen Plant RNEasy Kit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AutoNum type="alphaLcPeriod"/>
            </a:pPr>
            <a:r>
              <a:rPr lang="en" sz="1800"/>
              <a:t>Qiagen DNA Cleanup during extraction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sz="1800"/>
              <a:t>Check Quality: 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AutoNum type="alphaLcPeriod"/>
            </a:pPr>
            <a:r>
              <a:rPr lang="en" sz="1800"/>
              <a:t>Nanodrop for quality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AutoNum type="alphaLcPeriod"/>
            </a:pPr>
            <a:r>
              <a:rPr lang="en" sz="1800"/>
              <a:t>Bioanalyzer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sz="1800"/>
              <a:t>Clean-up RNA: NEBNext Ploy(A) mRNA Magnetic Isolation Module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sz="1800"/>
              <a:t>cDNA Synthesis: Native Barcoding Expansion 1-12 (PCR-free) and add in oligo(dT)/</a:t>
            </a:r>
            <a:r>
              <a:rPr lang="en" sz="1800"/>
              <a:t>Random hexamer primers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sz="1800"/>
              <a:t>Library prep and sequencing: Oxford Nanpore protocols and sequence using MinION SpotON Flow Cell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68" name="Google Shape;68;p14"/>
          <p:cNvSpPr txBox="1"/>
          <p:nvPr>
            <p:ph type="ctrTitle"/>
          </p:nvPr>
        </p:nvSpPr>
        <p:spPr>
          <a:xfrm>
            <a:off x="249350" y="289125"/>
            <a:ext cx="3201900" cy="94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Sequencing Protocol</a:t>
            </a:r>
            <a:endParaRPr sz="3000"/>
          </a:p>
        </p:txBody>
      </p:sp>
      <p:sp>
        <p:nvSpPr>
          <p:cNvPr id="69" name="Google Shape;69;p14"/>
          <p:cNvSpPr txBox="1"/>
          <p:nvPr>
            <p:ph type="ctrTitle"/>
          </p:nvPr>
        </p:nvSpPr>
        <p:spPr>
          <a:xfrm>
            <a:off x="3678350" y="289125"/>
            <a:ext cx="3201900" cy="94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Computational</a:t>
            </a:r>
            <a:r>
              <a:rPr lang="en" sz="3000"/>
              <a:t> Protocol</a:t>
            </a:r>
            <a:endParaRPr sz="3000"/>
          </a:p>
        </p:txBody>
      </p:sp>
      <p:cxnSp>
        <p:nvCxnSpPr>
          <p:cNvPr id="70" name="Google Shape;70;p14"/>
          <p:cNvCxnSpPr/>
          <p:nvPr/>
        </p:nvCxnSpPr>
        <p:spPr>
          <a:xfrm>
            <a:off x="3747250" y="295825"/>
            <a:ext cx="33000" cy="8907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1" name="Google Shape;71;p14"/>
          <p:cNvSpPr txBox="1"/>
          <p:nvPr/>
        </p:nvSpPr>
        <p:spPr>
          <a:xfrm>
            <a:off x="3972075" y="1337225"/>
            <a:ext cx="3201900" cy="60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/>
            </a:pPr>
            <a:r>
              <a:rPr lang="en" sz="1800">
                <a:solidFill>
                  <a:schemeClr val="dk2"/>
                </a:solidFill>
              </a:rPr>
              <a:t>Sequence Processing: Basecalling using Albacore (Nanopore tech.)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/>
            </a:pPr>
            <a:r>
              <a:rPr lang="en" sz="1800">
                <a:solidFill>
                  <a:schemeClr val="dk2"/>
                </a:solidFill>
              </a:rPr>
              <a:t>Demultiplexing using porechop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/>
            </a:pPr>
            <a:r>
              <a:rPr lang="en" sz="1800">
                <a:solidFill>
                  <a:schemeClr val="dk2"/>
                </a:solidFill>
              </a:rPr>
              <a:t>DeNovo Assembling: BWA, SAMtools, SOAPdenovo-Trans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/>
            </a:pPr>
            <a:r>
              <a:rPr lang="en" sz="1800">
                <a:solidFill>
                  <a:schemeClr val="dk2"/>
                </a:solidFill>
              </a:rPr>
              <a:t>Determine</a:t>
            </a:r>
            <a:r>
              <a:rPr lang="en" sz="1800">
                <a:solidFill>
                  <a:schemeClr val="dk2"/>
                </a:solidFill>
              </a:rPr>
              <a:t> read depth: External RNA Controls Consortium RNA Spike-In Mix 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/>
            </a:pPr>
            <a:r>
              <a:rPr lang="en" sz="1800">
                <a:solidFill>
                  <a:schemeClr val="dk2"/>
                </a:solidFill>
              </a:rPr>
              <a:t>Transcript analysis: PANTHER Overrepresentation with Gene Ontology database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/>
            </a:pPr>
            <a:r>
              <a:rPr lang="en" sz="1800">
                <a:solidFill>
                  <a:schemeClr val="dk2"/>
                </a:solidFill>
              </a:rPr>
              <a:t>DEseq R to </a:t>
            </a:r>
            <a:r>
              <a:rPr lang="en" sz="1800">
                <a:solidFill>
                  <a:schemeClr val="dk2"/>
                </a:solidFill>
              </a:rPr>
              <a:t>determine</a:t>
            </a:r>
            <a:r>
              <a:rPr lang="en" sz="1800">
                <a:solidFill>
                  <a:schemeClr val="dk2"/>
                </a:solidFill>
              </a:rPr>
              <a:t> DEG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-------------------------------------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/>
            </a:pPr>
            <a:r>
              <a:rPr lang="en" sz="1800">
                <a:solidFill>
                  <a:schemeClr val="dk2"/>
                </a:solidFill>
              </a:rPr>
              <a:t>With DEG do qPCR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5"/>
          <p:cNvSpPr txBox="1"/>
          <p:nvPr>
            <p:ph type="title"/>
          </p:nvPr>
        </p:nvSpPr>
        <p:spPr>
          <a:xfrm>
            <a:off x="249310" y="459396"/>
            <a:ext cx="6816600" cy="111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Cost Breakdown</a:t>
            </a:r>
            <a:endParaRPr/>
          </a:p>
        </p:txBody>
      </p:sp>
      <p:sp>
        <p:nvSpPr>
          <p:cNvPr id="77" name="Google Shape;77;p15"/>
          <p:cNvSpPr txBox="1"/>
          <p:nvPr>
            <p:ph idx="1" type="body"/>
          </p:nvPr>
        </p:nvSpPr>
        <p:spPr>
          <a:xfrm>
            <a:off x="249310" y="1464854"/>
            <a:ext cx="6816600" cy="668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NEBNext Poly(A) mRNA magnetic isolation (24 samples)</a:t>
            </a:r>
            <a:br>
              <a:rPr lang="en"/>
            </a:br>
            <a:r>
              <a:rPr lang="en"/>
              <a:t>	$67 x 2 = $134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Nanopore Kit </a:t>
            </a:r>
            <a:br>
              <a:rPr lang="en"/>
            </a:br>
            <a:r>
              <a:rPr lang="en"/>
              <a:t>	$1000.00 x 2 = $2000.00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SuperScript IV (50 reactions)</a:t>
            </a:r>
            <a:br>
              <a:rPr lang="en"/>
            </a:br>
            <a:r>
              <a:rPr lang="en"/>
              <a:t>	$488.00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PerfeCTa SYBR® Green SuperMix </a:t>
            </a:r>
            <a:br>
              <a:rPr lang="en"/>
            </a:br>
            <a:r>
              <a:rPr lang="en"/>
              <a:t>	$194.60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Gene Specific Primers (~10 genes </a:t>
            </a:r>
            <a:r>
              <a:rPr lang="en"/>
              <a:t>including</a:t>
            </a:r>
            <a:r>
              <a:rPr lang="en"/>
              <a:t> control primers)</a:t>
            </a:r>
            <a:br>
              <a:rPr lang="en"/>
            </a:br>
            <a:r>
              <a:rPr lang="en"/>
              <a:t>	$150.00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Shipping Cost</a:t>
            </a:r>
            <a:br>
              <a:rPr lang="en"/>
            </a:br>
            <a:r>
              <a:rPr lang="en"/>
              <a:t>	$150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i="1" lang="en"/>
              <a:t>Total: $3116.60</a:t>
            </a:r>
            <a:endParaRPr i="1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